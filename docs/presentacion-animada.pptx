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noches. Somos el grupo y presentamos Más allá del volumen, un análisis exploratorio y estratégico sobre el histórico de ventas de una cadena de supermercados durante el período 2014-2017. La idea central es mostrar cómo transformamos datos transaccionales en decisiones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entender el valor del trabajo, arrancamos por el problema de origen: el volumen de ventas alto podía llevar a conclusiones equivocadas. El objetivo fue pasar del dato crudo a decisiones de negocio, identificando dónde se genera valor y dónde se pierde.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fue realizar un análisis exploratorio de datos para identificar patrones de compra, evaluar el desempeño comercial y extraer hallazgos accionables. La pregunta principal fue dónde se genera valor real y dónde el negocio lo está perdiendo.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 trabajo contempló cinco fases: comprensión del negocio, diagnóstico de datos, preparación y limpieza, análisis exploratorio y comunicación visual. La preparación del dato fue el núcleo técnico porque ningún gráfico sirve si el dato de origen no es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inicial mostró 9.994 registros, 21 columnas y una base con problemas de calidad. Detectamos valores corruptos en ventas y cantidades, errores en fechas, nulos en variables categóricas y códigos postales que perdieron ceros iniciales.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limpieza consistió en convertir tipos, recuperar los códigos postales con ceros a la izquierda, normalizar categorías mediante similitud de texto y eliminar solo registros con faltantes en campos críticos. El resultado fue una base final de 9.864 registros útiles.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vez limpia la base, se crearon variables derivadas para abrir nuevas dimensiones analíticas: demora logística, cortes temporales y margen de utilidad. Estas variables permiten trasladar el análisis a Power BI con mayor riqueza.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hallazgo es que una categoría puede vender mucho pero no necesariamente ser rentable. Technology y Office Supplies sostienen el resultado económico; Furniture mueve volumen, pero deja un margen muy 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bajar al nivel de subcategoría aparece la causa concreta. Tables y Bookcases son destructores de valor, mientras que Copiers muestra el extremo opuesto: pocas unidades pero alta rentabilidad.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Oeste lidera en ventas y margen, mientras que Central tiene un volumen relevante pero una rentabilidad inferior. Por segmento, Consumer sostiene el volumen y Home Office aparece como potencial para aumentar ticket y frecuencia.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cruce de descuento y ganancia muestra un umbral crítico: hasta el 20% la operación se mantiene saludable; desde el 30% la rentabilidad se vuelve sistemáticamente negativa. Por eso recomendamos un techo formal de descuento.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serie mensual confirma una estacionalidad fuerte: picos en noviembre y diciembre, y valles al inicio del año. Al mismo tiempo, Shipping Days muestra que las pérdidas no vienen del fulfillment, sino de pricing, mix de productos y descuentos.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análisis RFM permitió clasificar a los 793 clientes únicos en siete segmentos accionables. Los clientes Champions y Loyal concentran mucho revenue, mientras que At Risk representa una gran oportunidad de 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síntesis, encontramos tres fugas de margen: producto, pricing y región. El plan de acción propone controlar descuentos, revisar subcategorías deficitarias, auditar Central, proteger clientes valiosos y avanzar hacia un pipeline automatizado con modelos predictivos.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3C5FD"/>
                </a:solidFill>
              </a:rPr>
              <a:t>PROYECTO INTEGRADOR · IFTS N°18 · 2026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allá del volumen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323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F4"/>
                </a:solidFill>
              </a:rPr>
              <a:t>Descifrando el ADN de la rentabilidad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34198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6DD"/>
                </a:solidFill>
              </a:rPr>
              <a:t>Análisis exploratorio y estratégico del dataset Supermarket_Sales · 2014–2017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523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0A5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9.994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5236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crudos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8696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9.864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86968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finales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2412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0" y="1581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finales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B6C6DD"/>
                </a:solidFill>
              </a:rPr>
              <a:t>Integrantes: Gabriel D’Annunzio · Juan Manuel Etchehun · Pablo Tapia · Pablo Donato Nuñez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6C6DD"/>
                </a:solidFill>
              </a:rPr>
              <a:t>Profesor: Hugo Planiscig</a:t>
            </a:r>
            <a:endParaRPr lang="en-US" sz="750" dirty="0"/>
          </a:p>
        </p:txBody>
      </p:sp>
    </p:spTree>
  </p:cSld>
  <p:clrMapOvr>
    <a:masterClrMapping/>
  </p:clrMapOvr>
  <p:transition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DEL PROBLEMA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dato crudo al insight de negocio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El volumen bruto puede ocultar pérdida de valor.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5212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empresa vendía alto, pero no necesariamente rentaba alto.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base presentaba ruido tipográfico, tipos incorrectos, nulos y datos corruptos.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análisis permite detectar productos y promociones que destruyen margen.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4343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CRUDO → LIMPIEZA → EDA → INSIGHTS → DECISIONES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3840480" cy="0"/>
          </a:xfrm>
          <a:prstGeom prst="line">
            <a:avLst/>
          </a:prstGeom>
          <a:noFill/>
          <a:ln w="15240">
            <a:solidFill>
              <a:srgbClr val="007E7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06640" y="1463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Narrativa central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56832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Tres focos de negocio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1. Salud financiera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2. Límites de rentabilidad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3. Recomendaciones operativas</a:t>
            </a:r>
            <a:endParaRPr lang="en-US" sz="1250" dirty="0"/>
          </a:p>
        </p:txBody>
      </p:sp>
    </p:spTree>
  </p:cSld>
  <p:clrMapOvr>
    <a:masterClrMapping/>
  </p:clrMapOvr>
  <p:transition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BUSCAMOS RESPONDER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Objetivo general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43891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Realizar un EDA sobre Supermarket_Sales para identificar patrones de compra, desempeño comercial y hallazgos accionables.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852160" y="1417320"/>
            <a:ext cx="493776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Diagnosticar calidad del dataset.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Limpiar y transformar variables críticas.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Analizar ventas, margen, descuento, región, categoría y segmento.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variables derivadas para Power BI.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Aplicar segmentación RFM y definir acciones comerciales.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Pregunta guía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224528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genera valor real y dónde el negocio lo está perdiendo?</a:t>
            </a:r>
            <a:endParaRPr lang="en-US" sz="1900" dirty="0"/>
          </a:p>
        </p:txBody>
      </p:sp>
    </p:spTree>
  </p:cSld>
  <p:clrMapOvr>
    <a:masterClrMapping/>
  </p:clrMapOvr>
  <p:transition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CAOS TRANSACCIONAL A LA CLARIDAD ESTRATÉGICA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Metodología: pipeline de análisis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Comprensión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negocio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Preguntas comerciales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41448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53512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Comprensión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dato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53512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Calidad y estructura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29784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Preparación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limpieza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9784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Tipos, nulos y texto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93992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06056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EDA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multidimensional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06056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Categoría, región, tiempo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70264" y="2139696"/>
            <a:ext cx="41148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82328" y="1874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Comunicación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visual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82328" y="2331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Power BI + informe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9808" y="3703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utilizado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4672" y="3995928"/>
            <a:ext cx="44805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· pandas · NumPy · Matplotlib · Seaborn · difflib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 BI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703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metodológico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629400" y="3986784"/>
            <a:ext cx="3931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No modificar el dato crudo; trabajar sobre copias y documentar cada decisión.</a:t>
            </a:r>
            <a:endParaRPr lang="en-US" sz="1450" dirty="0"/>
          </a:p>
        </p:txBody>
      </p:sp>
    </p:spTree>
  </p:cSld>
  <p:clrMapOvr>
    <a:masterClrMapping/>
  </p:clrMapOvr>
  <p:transition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DEL DATO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inicial del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9.994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iniciales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51460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1460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originales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429768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9768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 exactos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08076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8076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con nulos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86384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de nulos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646920" y="1417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46920" y="17647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códigos postales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incompletos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49808" y="2880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detectados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 y Quantity almacenadas como texto.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Date con valores DATE_ERROR_FORMAT.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Errores tipográficos en Ship Mode, Segment y Category.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Postal Code leído como número y pérdida de ceros a la izquierda.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Nulos no críticos distribuidos entre variables descriptivas.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6537960" y="2880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negocio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3246120"/>
            <a:ext cx="4389120" cy="1207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Un dato mal tipado no es un detalle técnico: puede cambiar el diagnóstico de rentabilidad, geografía y comportamiento del cliente.</a:t>
            </a:r>
            <a:endParaRPr lang="en-US" sz="1700" dirty="0"/>
          </a:p>
        </p:txBody>
      </p:sp>
    </p:spTree>
  </p:cSld>
  <p:clrMapOvr>
    <a:masterClrMapping/>
  </p:clrMapOvr>
  <p:transition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RESCATE DE DATOS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Limpieza y transformación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Corrección aplicada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0372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Resultado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to_numeric / to_datetime con errors="coerce"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975104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76072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Ventas, cantidades y fechas válidas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str.zfill(5) para Postal Code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542032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60720" y="2395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100% de códigos con 5 dígitos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normalizar_texto + get_close_matches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760720" y="2962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Categorías consolidadas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eliminación selectiva de críticos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3675888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60720" y="3529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130 filas eliminadas (1,3%)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096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“Sin dato” para nulos no críticos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4242816"/>
            <a:ext cx="6400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760720" y="4096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</a:rPr>
              <a:t>Información preservada sin inventar datos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5349240"/>
            <a:ext cx="804672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final: 9.864 registros útiles para análisis y Power BI.</a:t>
            </a:r>
            <a:endParaRPr lang="en-US" sz="1600" dirty="0"/>
          </a:p>
        </p:txBody>
      </p:sp>
    </p:spTree>
  </p:cSld>
  <p:clrMapOvr>
    <a:masterClrMapping/>
  </p:clrMapOvr>
  <p:transition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derivadas: enriquecer para analizar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49808" y="1417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6 variables agregadas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Shipping Days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Year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Month Name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Year-Month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Margin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1737360"/>
            <a:ext cx="37490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Shipping Days permitió validar la promesa logística.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Year, Month y Order Year-Month abrieron el análisis temporal.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Profit Margin convirtió ventas brutas en rentabilidad relativa.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• El dataset final quedó listo para Power BI: 27 columnas.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503920" y="1874520"/>
            <a:ext cx="2560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días negativos de envío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logístico: 0 a 7 días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Márgenes protegidos contra división por cero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15400" y="42519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preparada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183880" y="4590288"/>
            <a:ext cx="2971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df_sales_limpio_para_powerbi.xlsx</a:t>
            </a:r>
            <a:endParaRPr lang="en-US" sz="1300" dirty="0"/>
          </a:p>
        </p:txBody>
      </p:sp>
    </p:spTree>
  </p:cSld>
  <p:clrMapOvr>
    <a:masterClrMapping/>
  </p:clrMapOvr>
  <p:transition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VS GANANCIA POR CATEGORÍA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Volumen no es margen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cat_sales_profit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10012680" cy="3685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5532120"/>
            <a:ext cx="8778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factura casi como Technology, pero apenas aporta USD 17K de ganancia.</a:t>
            </a:r>
            <a:endParaRPr lang="en-US" sz="1380" dirty="0"/>
          </a:p>
        </p:txBody>
      </p:sp>
    </p:spTree>
  </p:cSld>
  <p:clrMapOvr>
    <a:masterClrMapping/>
  </p:clrMapOvr>
  <p:transition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SUBCATEGORÍAS CRÍTICAS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la pérdida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subcategoria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9966960" cy="3685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5532120"/>
            <a:ext cx="8138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Tables: −17.424 USD · Bookcases: −3.593 USD · Supplies: −988 USD</a:t>
            </a:r>
            <a:endParaRPr lang="en-US" sz="1340" dirty="0"/>
          </a:p>
        </p:txBody>
      </p:sp>
    </p:spTree>
  </p:cSld>
  <p:clrMapOvr>
    <a:masterClrMapping/>
  </p:clrMapOvr>
  <p:transition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Y QUIÉN COMPRA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Radiografía regional y segmentos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region_segment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81328"/>
            <a:ext cx="100126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factura USD 490K, pero su margen cae al 8%.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6035040" y="5504688"/>
            <a:ext cx="4846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aporta ~51% de ventas; Home Office tiene el ticket más alto.</a:t>
            </a:r>
            <a:endParaRPr lang="en-US" sz="1260" dirty="0"/>
          </a:p>
        </p:txBody>
      </p:sp>
    </p:spTree>
  </p:cSld>
  <p:clrMapOvr>
    <a:masterClrMapping/>
  </p:clrMapOvr>
  <p:transition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DESCUENTOS Y RENTABILIDAD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abismo del 30%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discount_scatter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1328"/>
            <a:ext cx="5989320" cy="388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874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debajo del 30%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54380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La operación se sostiene con ganancia positiva.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43800" y="31546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el 30% en adelante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406640" y="3456432"/>
            <a:ext cx="3291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62828"/>
                </a:solidFill>
              </a:rPr>
              <a:t>El descuento deja de ser promoción y empieza a destruir valor.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60920" y="4892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Pérdidas extremas: 70% ≈ −39K · 80% ≈ −30K</a:t>
            </a:r>
            <a:endParaRPr lang="en-US" sz="1050" dirty="0"/>
          </a:p>
        </p:txBody>
      </p:sp>
    </p:spTree>
  </p:cSld>
  <p:clrMapOvr>
    <a:masterClrMapping/>
  </p:clrMapOvr>
  <p:transition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PULSO DEL NEGOCIO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Estacionalidad y logística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monthly_ship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100126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4800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Ventas: picos en noviembre/diciembre y valles en enero/febrero.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6080760" y="5513832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Logística: Same Day y Standard Class cumplen su promesa operativa.</a:t>
            </a:r>
            <a:endParaRPr lang="en-US" sz="1220" dirty="0"/>
          </a:p>
        </p:txBody>
      </p:sp>
    </p:spTree>
  </p:cSld>
  <p:clrMapOvr>
    <a:masterClrMapping/>
  </p:clrMapOvr>
  <p:transition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ANALYTICS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Segmentación RFM de clientes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012680" y="1115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 ANIMADO</a:t>
            </a:r>
            <a:endParaRPr lang="en-US" sz="700" dirty="0"/>
          </a:p>
        </p:txBody>
      </p:sp>
      <p:pic>
        <p:nvPicPr>
          <p:cNvPr id="8" name="Image 0" descr="/mnt/data/animated_charts/rfm_animate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81328"/>
            <a:ext cx="1037844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7E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Champions + Loyal ≈ 25% de clientes → 38% del revenue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6400800" y="5715000"/>
            <a:ext cx="4526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Risk: 64 clientes · USD 323K históricos · +208 días sin comprar</a:t>
            </a:r>
            <a:endParaRPr lang="en-US" sz="1220" dirty="0"/>
          </a:p>
        </p:txBody>
      </p:sp>
    </p:spTree>
  </p:cSld>
  <p:clrMapOvr>
    <a:masterClrMapping/>
  </p:clrMapOvr>
  <p:transition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INSIGHT A LA DECISIÓN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plan de acción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2881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 · Supermarket_Sales · IFTS N°18 ·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539728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fugas de margen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783080"/>
            <a:ext cx="429768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Producto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Tables y Bookcases destruyen valor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Pricing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Descuentos ≥30% generan pérdida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Región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3"/>
                </a:solidFill>
              </a:rPr>
              <a:t>Central sub-performa en margen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5943600" y="14173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recomendado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61888" y="1783080"/>
            <a:ext cx="46177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Inmediato: techo de descuento del 25%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Corto plazo: renegociar Tables / Bookcases y activar Home Office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Mediano plazo: auditoría regional Central y RFM recurrente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0B1F33"/>
                </a:solidFill>
              </a:rPr>
              <a:t>Futuro: pipeline automatizado + modelos predictivos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4983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final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5349240"/>
            <a:ext cx="9875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ciencia de datos aplicada a negocios, el volumen es vanidad; el margen es estrategia.</a:t>
            </a:r>
            <a:endParaRPr lang="en-US" sz="1700" dirty="0"/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IFTS N°18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Más allá del volumen</dc:title>
  <dc:subject>Proyecto Integrador — Supermarket Sales 2014-2017</dc:subject>
  <dc:creator>Pablo Tapia</dc:creator>
  <cp:lastModifiedBy>Pablo Tapia</cp:lastModifiedBy>
  <cp:revision>1</cp:revision>
  <dcterms:created xsi:type="dcterms:W3CDTF">2026-05-30T15:33:53Z</dcterms:created>
  <dcterms:modified xsi:type="dcterms:W3CDTF">2026-05-30T15:33:53Z</dcterms:modified>
</cp:coreProperties>
</file>