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Buenas noches. Somos el grupo y presentamos Más allá del volumen, un análisis exploratorio y estratégico sobre el histórico de ventas de una cadena de supermercados durante el período 2014-2017. La idea central es mostrar cómo transformamos datos transaccionales en decisiones de negocio.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entender el valor del trabajo, arrancamos por el problema de origen: el volumen de ventas alto podía llevar a conclusiones equivocadas. El objetivo fue pasar del dato crudo a decisiones de negocio, identificando dónde se genera valor y dónde se pierde.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objetivo general fue realizar un análisis exploratorio de datos para identificar patrones de compra, evaluar el desempeño comercial y extraer hallazgos accionables. La pregunta principal fue dónde se genera valor real y dónde el negocio lo está perdiendo.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flujo de trabajo contempló cinco fases: comprensión del negocio, diagnóstico de datos, preparación y limpieza, análisis exploratorio y comunicación visual. La preparación del dato fue el núcleo técnico porque ningún gráfico sirve si el dato de origen no es confiable.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diagnóstico inicial mostró 9.994 registros, 21 columnas y una base con problemas de calidad. Detectamos valores corruptos en ventas y cantidades, errores en fechas, nulos en variables categóricas y códigos postales que perdieron ceros iniciales.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limpieza consistió en convertir tipos, recuperar los códigos postales con ceros a la izquierda, normalizar categorías mediante similitud de texto y eliminar solo registros con faltantes en campos críticos. El resultado fue una base final de 9.864 registros útiles.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vez limpia la base, se crearon variables derivadas para abrir nuevas dimensiones analíticas: demora logística, cortes temporales y margen de utilidad. Estas variables permiten trasladar el análisis a Power BI con mayor riqueza.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primer hallazgo es que una categoría puede vender mucho pero no necesariamente ser rentable. Technology y Office Supplies sostienen el resultado económico; Furniture mueve volumen, pero deja un margen muy bajo.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bajar al nivel de subcategoría aparece la causa concreta. Tables y Bookcases son destructores de valor, mientras que Copiers muestra el extremo opuesto: pocas unidades pero alta rentabilidad.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Oeste lidera en ventas y margen, mientras que Central tiene un volumen relevante pero una rentabilidad inferior. Por segmento, Consumer sostiene el volumen y Home Office aparece como potencial para aumentar ticket y frecuencia.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cruce de descuento y ganancia muestra un umbral crítico: hasta el 20% la operación se mantiene saludable; desde el 30% la rentabilidad se vuelve sistemáticamente negativa. Por eso recomendamos un techo formal de descuento.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serie mensual confirma una estacionalidad fuerte: picos en noviembre y diciembre, y valles al inicio del año. Al mismo tiempo, Shipping Days muestra que las pérdidas no vienen del fulfillment, sino de pricing, mix de productos y descuentos.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análisis RFM permitió clasificar a los 793 clientes únicos en siete segmentos accionables. Los clientes Champions y Loyal concentran mucho revenue, mientras que At Risk representa una gran oportunidad de recuperación.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síntesis, encontramos tres fugas de margen: producto, pricing y región. El plan de acción propone controlar descuentos, revisar subcategorías deficitarias, auditar Central, proteger clientes valiosos y avanzar hacia un pipeline automatizado con modelos predictivos.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3C5FD"/>
                </a:solidFill>
              </a:rPr>
              <a:t>PROYECTO INTEGRADOR · IFTS N°18 · 2026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Más allá del volumen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243230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E3F4"/>
                </a:solidFill>
              </a:rPr>
              <a:t>Descifrando el ADN de la rentabilidad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66928" y="341985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6C6DD"/>
                </a:solidFill>
              </a:rPr>
              <a:t>Análisis exploratorio y estratégico del dataset Supermarket_Sales · 2014–2017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52360" y="12344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0A5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9.994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452360" y="158191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registros crudos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8869680" y="12344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DD4B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9.864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869680" y="158191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registros finales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10241280" y="12344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BB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0241280" y="158191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columnas finales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566928" y="598932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B6C6DD"/>
                </a:solidFill>
              </a:rPr>
              <a:t>Integrantes: Gabriel D’Annunzio · Juan Manuel Etchehun · Pablo Tapia · Pablo Donato Nuñez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B6C6DD"/>
                </a:solidFill>
              </a:rPr>
              <a:t>Profesor: Hugo Planiscig</a:t>
            </a:r>
            <a:endParaRPr lang="en-US" sz="750" dirty="0"/>
          </a:p>
        </p:txBody>
      </p:sp>
    </p:spTree>
  </p:cSld>
  <p:clrMapOvr>
    <a:masterClrMapping/>
  </p:clrMapOvr>
  <p:transition advClick="1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 DEL PROBLEMA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 dato crudo al insight de negocio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6528816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Integrador · Supermarket_Sales · IFTS N°18 · 2026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539728" y="6528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</a:rPr>
              <a:t>El volumen bruto puede ocultar pérdida de valor.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13232" y="1965960"/>
            <a:ext cx="521208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 empresa vendía alto, pero no necesariamente rentaba alto.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 base presentaba ruido tipográfico, tipos incorrectos, nulos y datos corruptos.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 análisis permite detectar productos y promociones que destruyen margen.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63640" y="2011680"/>
            <a:ext cx="43434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7E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 CRUDO → LIMPIEZA → EDA → INSIGHTS → DECISIONES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92240" y="2743200"/>
            <a:ext cx="3840480" cy="0"/>
          </a:xfrm>
          <a:prstGeom prst="line">
            <a:avLst/>
          </a:prstGeom>
          <a:noFill/>
          <a:ln w="15240">
            <a:solidFill>
              <a:srgbClr val="007E7C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406640" y="146304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Narrativa central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656832" y="3063240"/>
            <a:ext cx="338328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B1F33"/>
                </a:solidFill>
              </a:rPr>
              <a:t>Tres focos de negocio</a:t>
            </a:r>
            <a:endParaRPr lang="en-US" sz="1250" dirty="0"/>
          </a:p>
          <a:p>
            <a:pPr algn="ctr" indent="0" marL="0">
              <a:buNone/>
            </a:pP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0B1F33"/>
                </a:solidFill>
              </a:rPr>
              <a:t>1. Salud financiera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0B1F33"/>
                </a:solidFill>
              </a:rPr>
              <a:t>2. Límites de rentabilidad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0B1F33"/>
                </a:solidFill>
              </a:rPr>
              <a:t>3. Recomendaciones operativas</a:t>
            </a:r>
            <a:endParaRPr lang="en-US" sz="1250" dirty="0"/>
          </a:p>
        </p:txBody>
      </p:sp>
    </p:spTree>
  </p:cSld>
  <p:clrMapOvr>
    <a:masterClrMapping/>
  </p:clrMapOvr>
  <p:transition advClick="1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BUSCAMOS RESPONDER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Objetivos del proyecto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6528816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Integrador · Supermarket_Sales · IFTS N°18 · 2026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539728" y="6528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85800" y="12984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4ED8"/>
                </a:solidFill>
              </a:rPr>
              <a:t>Objetivo general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" y="1572768"/>
            <a:ext cx="438912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0B1F33"/>
                </a:solidFill>
              </a:rPr>
              <a:t>Realizar un EDA sobre Supermarket_Sales para identificar patrones de compra, desempeño comercial y hallazgos accionables.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852160" y="1417320"/>
            <a:ext cx="493776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Diagnosticar calidad del dataset.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Limpiar y transformar variables críticas.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Analizar ventas, margen, descuento, región, categoría y segmento.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Construir variables derivadas para Power BI.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Aplicar segmentación RFM y definir acciones comerciales.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85800" y="3794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4ED8"/>
                </a:solidFill>
              </a:rPr>
              <a:t>Pregunta guía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0" y="4224528"/>
            <a:ext cx="1024128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7E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¿Dónde se genera valor real y dónde el negocio lo está perdiendo?</a:t>
            </a:r>
            <a:endParaRPr lang="en-US" sz="1900" dirty="0"/>
          </a:p>
        </p:txBody>
      </p:sp>
    </p:spTree>
  </p:cSld>
  <p:clrMapOvr>
    <a:masterClrMapping/>
  </p:clrMapOvr>
  <p:transition advClick="1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 CAOS TRANSACCIONAL A LA CLARIDAD ESTRATÉGICA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Metodología: pipeline de análisis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6528816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Integrador · Supermarket_Sales · IFTS N°18 · 2026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539728" y="6528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777240" y="18745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Comprensión del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negocio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Preguntas comerciales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41448" y="2139696"/>
            <a:ext cx="411480" cy="0"/>
          </a:xfrm>
          <a:prstGeom prst="line">
            <a:avLst/>
          </a:prstGeom>
          <a:noFill/>
          <a:ln w="1524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953512" y="18745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Comprensión del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dato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53512" y="23317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Calidad y estructura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17720" y="2139696"/>
            <a:ext cx="411480" cy="0"/>
          </a:xfrm>
          <a:prstGeom prst="line">
            <a:avLst/>
          </a:prstGeom>
          <a:noFill/>
          <a:ln w="1524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129784" y="18745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Preparación 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limpieza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129784" y="23317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Tipos, nulos y texto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793992" y="2139696"/>
            <a:ext cx="411480" cy="0"/>
          </a:xfrm>
          <a:prstGeom prst="line">
            <a:avLst/>
          </a:prstGeom>
          <a:noFill/>
          <a:ln w="1524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306056" y="18745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EDA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multidimensional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06056" y="23317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Categoría, región, tiempo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970264" y="2139696"/>
            <a:ext cx="411480" cy="0"/>
          </a:xfrm>
          <a:prstGeom prst="line">
            <a:avLst/>
          </a:prstGeom>
          <a:noFill/>
          <a:ln w="1524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9482328" y="18745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Comunicación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visual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482328" y="23317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Power BI + informe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49808" y="37033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 utilizado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04672" y="3995928"/>
            <a:ext cx="44805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Python · pandas · NumPy · Matplotlib · Seaborn · difflib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Power BI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83680" y="37033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 metodológico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629400" y="3986784"/>
            <a:ext cx="39319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3"/>
                </a:solidFill>
              </a:rPr>
              <a:t>No modificar el dato crudo; trabajar sobre copias y documentar cada decisión.</a:t>
            </a:r>
            <a:endParaRPr lang="en-US" sz="1450" dirty="0"/>
          </a:p>
        </p:txBody>
      </p:sp>
    </p:spTree>
  </p:cSld>
  <p:clrMapOvr>
    <a:masterClrMapping/>
  </p:clrMapOvr>
  <p:transition advClick="1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CALIDAD DEL DATO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Diagnóstico inicial del dataset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6528816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Integrador · Supermarket_Sales · IFTS N°18 · 2026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539728" y="6528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D4ED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9.994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31520" y="176479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filas iniciales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2514600" y="14173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D4ED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514600" y="176479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columnas originales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4297680" y="14173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65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297680" y="176479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duplicados exactos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6080760" y="14173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D4ED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080760" y="176479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columnas con nulos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7863840" y="14173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62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863840" y="176479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máximo de nulos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City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9646920" y="14173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62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449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9646920" y="176479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códigos postales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incompletos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749808" y="28803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Problemas detectados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777240" y="3246120"/>
            <a:ext cx="512064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Sales y Quantity almacenadas como texto.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Date con valores DATE_ERROR_FORMAT.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Errores tipográficos en Ship Mode, Segment y Category.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Postal Code leído como número y pérdida de ceros a la izquierda.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Nulos no críticos distribuidos entre variables descriptivas.</a:t>
            </a:r>
            <a:endParaRPr lang="en-US" sz="1340" dirty="0"/>
          </a:p>
        </p:txBody>
      </p:sp>
      <p:sp>
        <p:nvSpPr>
          <p:cNvPr id="21" name="Text 19"/>
          <p:cNvSpPr/>
          <p:nvPr/>
        </p:nvSpPr>
        <p:spPr>
          <a:xfrm>
            <a:off x="6537960" y="28803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de negocio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583680" y="3246120"/>
            <a:ext cx="4389120" cy="12070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</a:rPr>
              <a:t>Un dato mal tipado no es un detalle técnico: puede cambiar el diagnóstico de rentabilidad, geografía y comportamiento del cliente.</a:t>
            </a:r>
            <a:endParaRPr lang="en-US" sz="1700" dirty="0"/>
          </a:p>
        </p:txBody>
      </p:sp>
    </p:spTree>
  </p:cSld>
  <p:clrMapOvr>
    <a:masterClrMapping/>
  </p:clrMapOvr>
  <p:transition advClick="1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MATRIZ DE RESCATE DE DATOS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Limpieza y transformación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6528816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Integrador · Supermarket_Sales · IFTS N°18 · 2026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539728" y="6528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914400" y="1417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4ED8"/>
                </a:solidFill>
              </a:rPr>
              <a:t>Corrección aplicada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903720" y="1417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4ED8"/>
                </a:solidFill>
              </a:rPr>
              <a:t>Resultado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0" y="1828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3"/>
                </a:solidFill>
              </a:rPr>
              <a:t>to_numeric / to_datetime con errors="coerce"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846320" y="1975104"/>
            <a:ext cx="640080" cy="0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76072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3"/>
                </a:solidFill>
              </a:rPr>
              <a:t>Ventas, cantidades y fechas válidas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23957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3"/>
                </a:solidFill>
              </a:rPr>
              <a:t>str.zfill(5) para Postal Code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846320" y="2542032"/>
            <a:ext cx="640080" cy="0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760720" y="23957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3"/>
                </a:solidFill>
              </a:rPr>
              <a:t>100% de códigos con 5 dígitos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" y="296265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3"/>
                </a:solidFill>
              </a:rPr>
              <a:t>normalizar_texto + get_close_matches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846320" y="3108960"/>
            <a:ext cx="640080" cy="0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5760720" y="296265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3"/>
                </a:solidFill>
              </a:rPr>
              <a:t>Categorías consolidadas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4400" y="35295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3"/>
                </a:solidFill>
              </a:rPr>
              <a:t>eliminación selectiva de críticos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846320" y="3675888"/>
            <a:ext cx="640080" cy="0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5760720" y="352958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3"/>
                </a:solidFill>
              </a:rPr>
              <a:t>130 filas eliminadas (1,3%)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14400" y="4096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3"/>
                </a:solidFill>
              </a:rPr>
              <a:t>“Sin dato” para nulos no críticos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846320" y="4242816"/>
            <a:ext cx="640080" cy="0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5760720" y="40965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3"/>
                </a:solidFill>
              </a:rPr>
              <a:t>Información preservada sin inventar datos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103120" y="5349240"/>
            <a:ext cx="804672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7E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final: 9.864 registros útiles para análisis y Power BI.</a:t>
            </a:r>
            <a:endParaRPr lang="en-US" sz="1600" dirty="0"/>
          </a:p>
        </p:txBody>
      </p:sp>
    </p:spTree>
  </p:cSld>
  <p:clrMapOvr>
    <a:masterClrMapping/>
  </p:clrMapOvr>
  <p:transition advClick="1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ENGINEERING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Variables derivadas: enriquecer para analizar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6528816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Integrador · Supermarket_Sales · IFTS N°18 · 2026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539728" y="6528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749808" y="141732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</a:rPr>
              <a:t>6 variables agregadas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338328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Shipping Days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Year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Month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Month Name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Year-Month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Profit Margin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297680" y="1737360"/>
            <a:ext cx="3749040" cy="2057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B1F33"/>
                </a:solidFill>
              </a:rPr>
              <a:t>• Shipping Days permitió validar la promesa logística.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0B1F33"/>
                </a:solidFill>
              </a:rPr>
              <a:t>• Year, Month y Order Year-Month abrieron el análisis temporal.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0B1F33"/>
                </a:solidFill>
              </a:rPr>
              <a:t>• Profit Margin convirtió ventas brutas en rentabilidad relativa.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0B1F33"/>
                </a:solidFill>
              </a:rPr>
              <a:t>• El dataset final quedó listo para Power BI: 27 columnas.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8503920" y="1874520"/>
            <a:ext cx="256032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días negativos de envío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Rango logístico: 0 a 7 días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Márgenes protegidos contra división por cero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915400" y="425196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 preparada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183880" y="4590288"/>
            <a:ext cx="29718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E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df_sales_limpio_para_powerbi.xlsx</a:t>
            </a:r>
            <a:endParaRPr lang="en-US" sz="1300" dirty="0"/>
          </a:p>
        </p:txBody>
      </p:sp>
    </p:spTree>
  </p:cSld>
  <p:clrMapOvr>
    <a:masterClrMapping/>
  </p:clrMapOvr>
  <p:transition advClick="1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VENTAS VS GANANCIA POR CATEGORÍA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Volumen no es margen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6528816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Integrador · Supermarket_Sales · IFTS N°18 · 2026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539728" y="6528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0012680" y="111556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07E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GRÁFICO ANIMADO</a:t>
            </a:r>
            <a:endParaRPr lang="en-US" sz="700" dirty="0"/>
          </a:p>
        </p:txBody>
      </p:sp>
      <p:pic>
        <p:nvPicPr>
          <p:cNvPr id="8" name="Image 0" descr="/mnt/data/animated_charts/cat_sales_profit_animated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81328"/>
            <a:ext cx="10012680" cy="3685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5532120"/>
            <a:ext cx="87782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C62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Furniture factura casi como Technology, pero apenas aporta USD 17K de ganancia.</a:t>
            </a:r>
            <a:endParaRPr lang="en-US" sz="1380" dirty="0"/>
          </a:p>
        </p:txBody>
      </p:sp>
    </p:spTree>
  </p:cSld>
  <p:clrMapOvr>
    <a:masterClrMapping/>
  </p:clrMapOvr>
  <p:transition advClick="1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SUBCATEGORÍAS CRÍTICAS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Anatomía de la pérdida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6528816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Integrador · Supermarket_Sales · IFTS N°18 · 2026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539728" y="6528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0012680" y="111556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07E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GRÁFICO ANIMADO</a:t>
            </a:r>
            <a:endParaRPr lang="en-US" sz="700" dirty="0"/>
          </a:p>
        </p:txBody>
      </p:sp>
      <p:pic>
        <p:nvPicPr>
          <p:cNvPr id="8" name="Image 0" descr="/mnt/data/animated_charts/subcategoria_animated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81328"/>
            <a:ext cx="9966960" cy="3685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11680" y="5532120"/>
            <a:ext cx="81381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C62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Tables: −17.424 USD · Bookcases: −3.593 USD · Supplies: −988 USD</a:t>
            </a:r>
            <a:endParaRPr lang="en-US" sz="1340" dirty="0"/>
          </a:p>
        </p:txBody>
      </p:sp>
    </p:spTree>
  </p:cSld>
  <p:clrMapOvr>
    <a:masterClrMapping/>
  </p:clrMapOvr>
  <p:transition advClick="1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DÓNDE Y QUIÉN COMPRA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Radiografía regional y segmentos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6528816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Integrador · Supermarket_Sales · IFTS N°18 · 2026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539728" y="6528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0012680" y="111556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07E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GRÁFICO ANIMADO</a:t>
            </a:r>
            <a:endParaRPr lang="en-US" sz="700" dirty="0"/>
          </a:p>
        </p:txBody>
      </p:sp>
      <p:pic>
        <p:nvPicPr>
          <p:cNvPr id="8" name="Image 0" descr="/mnt/data/animated_charts/region_segment_animated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481328"/>
            <a:ext cx="10012680" cy="3657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5504688"/>
            <a:ext cx="48463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C62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 factura USD 490K, pero su margen cae al 8%.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6035040" y="5504688"/>
            <a:ext cx="48463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7E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Consumer aporta ~51% de ventas; Home Office tiene el ticket más alto.</a:t>
            </a:r>
            <a:endParaRPr lang="en-US" sz="1260" dirty="0"/>
          </a:p>
        </p:txBody>
      </p:sp>
    </p:spTree>
  </p:cSld>
  <p:clrMapOvr>
    <a:masterClrMapping/>
  </p:clrMapOvr>
  <p:transition advClick="1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DESCUENTOS Y RENTABILIDAD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abismo del 30%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6528816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Integrador · Supermarket_Sales · IFTS N°18 · 2026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539728" y="6528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0012680" y="111556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07E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GRÁFICO ANIMADO</a:t>
            </a:r>
            <a:endParaRPr lang="en-US" sz="700" dirty="0"/>
          </a:p>
        </p:txBody>
      </p:sp>
      <p:pic>
        <p:nvPicPr>
          <p:cNvPr id="8" name="Image 0" descr="/mnt/data/animated_charts/discount_scatter_animated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481328"/>
            <a:ext cx="5989320" cy="3886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0" y="18745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7E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debajo del 30%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543800" y="2194560"/>
            <a:ext cx="29718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F33"/>
                </a:solidFill>
              </a:rPr>
              <a:t>La operación se sostiene con ganancia positiva.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543800" y="315468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62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Desde el 30% en adelante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7406640" y="3456432"/>
            <a:ext cx="329184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C62828"/>
                </a:solidFill>
              </a:rPr>
              <a:t>El descuento deja de ser promoción y empieza a destruir valor.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360920" y="4892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Pérdidas extremas: 70% ≈ −39K · 80% ≈ −30K</a:t>
            </a:r>
            <a:endParaRPr lang="en-US" sz="1050" dirty="0"/>
          </a:p>
        </p:txBody>
      </p:sp>
    </p:spTree>
  </p:cSld>
  <p:clrMapOvr>
    <a:masterClrMapping/>
  </p:clrMapOvr>
  <p:transition advClick="1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PULSO DEL NEGOCIO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Estacionalidad y logística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6528816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Integrador · Supermarket_Sales · IFTS N°18 · 2026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539728" y="6528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0012680" y="111556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07E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GRÁFICO ANIMADO</a:t>
            </a:r>
            <a:endParaRPr lang="en-US" sz="700" dirty="0"/>
          </a:p>
        </p:txBody>
      </p:sp>
      <p:pic>
        <p:nvPicPr>
          <p:cNvPr id="8" name="Image 0" descr="/mnt/data/animated_charts/monthly_ship_animated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81328"/>
            <a:ext cx="10012680" cy="3657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5513832"/>
            <a:ext cx="48006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C62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Ventas: picos en noviembre/diciembre y valles en enero/febrero.</a:t>
            </a:r>
            <a:endParaRPr lang="en-US" sz="1240" dirty="0"/>
          </a:p>
        </p:txBody>
      </p:sp>
      <p:sp>
        <p:nvSpPr>
          <p:cNvPr id="10" name="Text 7"/>
          <p:cNvSpPr/>
          <p:nvPr/>
        </p:nvSpPr>
        <p:spPr>
          <a:xfrm>
            <a:off x="6080760" y="5513832"/>
            <a:ext cx="47548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07E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Logística: Same Day y Standard Class cumplen su promesa operativa.</a:t>
            </a:r>
            <a:endParaRPr lang="en-US" sz="1220" dirty="0"/>
          </a:p>
        </p:txBody>
      </p:sp>
    </p:spTree>
  </p:cSld>
  <p:clrMapOvr>
    <a:masterClrMapping/>
  </p:clrMapOvr>
  <p:transition advClick="1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ANALYTICS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Segmentación RFM de clientes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6528816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Integrador · Supermarket_Sales · IFTS N°18 · 2026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539728" y="6528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0012680" y="111556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07E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GRÁFICO ANIMADO</a:t>
            </a:r>
            <a:endParaRPr lang="en-US" sz="700" dirty="0"/>
          </a:p>
        </p:txBody>
      </p:sp>
      <p:pic>
        <p:nvPicPr>
          <p:cNvPr id="8" name="Image 0" descr="/mnt/data/animated_charts/rfm_animated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81328"/>
            <a:ext cx="10378440" cy="4114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5715000"/>
            <a:ext cx="4572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007E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Champions + Loyal ≈ 25% de clientes → 38% del revenue</a:t>
            </a:r>
            <a:endParaRPr lang="en-US" sz="1280" dirty="0"/>
          </a:p>
        </p:txBody>
      </p:sp>
      <p:sp>
        <p:nvSpPr>
          <p:cNvPr id="10" name="Text 7"/>
          <p:cNvSpPr/>
          <p:nvPr/>
        </p:nvSpPr>
        <p:spPr>
          <a:xfrm>
            <a:off x="6400800" y="5715000"/>
            <a:ext cx="45262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C62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Risk: 64 clientes · USD 323K históricos · +208 días sin comprar</a:t>
            </a:r>
            <a:endParaRPr lang="en-US" sz="1220" dirty="0"/>
          </a:p>
        </p:txBody>
      </p:sp>
    </p:spTree>
  </p:cSld>
  <p:clrMapOvr>
    <a:masterClrMapping/>
  </p:clrMapOvr>
  <p:transition advClick="1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 INSIGHT A LA DECISIÓN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Conclusiones y plan de acción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6528816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Integrador · Supermarket_Sales · IFTS N°18 · 2026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539728" y="6528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fugas de margen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783080"/>
            <a:ext cx="4297680" cy="2240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0B1F33"/>
                </a:solidFill>
              </a:rPr>
              <a:t>Producto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0B1F33"/>
                </a:solidFill>
              </a:rPr>
              <a:t>Tables y Bookcases destruyen valor</a:t>
            </a:r>
            <a:endParaRPr lang="en-US" sz="1340" dirty="0"/>
          </a:p>
          <a:p>
            <a:pPr indent="0" marL="0">
              <a:buNone/>
            </a:pP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0B1F33"/>
                </a:solidFill>
              </a:rPr>
              <a:t>Pricing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0B1F33"/>
                </a:solidFill>
              </a:rPr>
              <a:t>Descuentos ≥30% generan pérdida</a:t>
            </a:r>
            <a:endParaRPr lang="en-US" sz="1340" dirty="0"/>
          </a:p>
          <a:p>
            <a:pPr indent="0" marL="0">
              <a:buNone/>
            </a:pP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0B1F33"/>
                </a:solidFill>
              </a:rPr>
              <a:t>Región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0B1F33"/>
                </a:solidFill>
              </a:rPr>
              <a:t>Central sub-performa en margen</a:t>
            </a:r>
            <a:endParaRPr lang="en-US" sz="1340" dirty="0"/>
          </a:p>
        </p:txBody>
      </p:sp>
      <p:sp>
        <p:nvSpPr>
          <p:cNvPr id="9" name="Text 7"/>
          <p:cNvSpPr/>
          <p:nvPr/>
        </p:nvSpPr>
        <p:spPr>
          <a:xfrm>
            <a:off x="5943600" y="14173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 recomendado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961888" y="1783080"/>
            <a:ext cx="4617720" cy="2514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B1F33"/>
                </a:solidFill>
              </a:rPr>
              <a:t>Inmediato: techo de descuento del 25%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0B1F33"/>
                </a:solidFill>
              </a:rPr>
              <a:t>Corto plazo: renegociar Tables / Bookcases y activar Home Office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0B1F33"/>
                </a:solidFill>
              </a:rPr>
              <a:t>Mediano plazo: auditoría regional Central y RFM recurrente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0B1F33"/>
                </a:solidFill>
              </a:rPr>
              <a:t>Futuro: pipeline automatizado + modelos predictivos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777240" y="4983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 final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05840" y="5349240"/>
            <a:ext cx="98755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ciencia de datos aplicada a negocios, el volumen es vanidad; el margen es estrategia.</a:t>
            </a:r>
            <a:endParaRPr lang="en-US" sz="1700" dirty="0"/>
          </a:p>
        </p:txBody>
      </p:sp>
    </p:spTree>
  </p:cSld>
  <p:clrMapOvr>
    <a:masterClrMapping/>
  </p:clrMapOvr>
  <p:transition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IFTS N°18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Más allá del volumen</dc:title>
  <dc:subject>Proyecto Integrador — Supermarket Sales 2014-2017</dc:subject>
  <dc:creator>Pablo Tapia</dc:creator>
  <cp:lastModifiedBy>Pablo Tapia</cp:lastModifiedBy>
  <cp:revision>1</cp:revision>
  <dcterms:created xsi:type="dcterms:W3CDTF">2026-05-30T15:32:26Z</dcterms:created>
  <dcterms:modified xsi:type="dcterms:W3CDTF">2026-05-30T15:32:26Z</dcterms:modified>
</cp:coreProperties>
</file>